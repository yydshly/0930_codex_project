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介绍一个面向个人开源项目研究的工作台概念。内容以本地研究集中的两个真实仓库为样本。此产品尚未接入真实后端，不代表现有商业产品。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本页是场景假设，不是用户调研统计或效率提升实测。用于解释为什么设计项目库、证据页及采用判断。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演示时打开交互原型，搜索设计，并进入 Huashu Design。截图来自本次制作的原型。两个项目的定位来自本研究集固定版本报告。Huashu Design 源码：https://github.com/alchaincyf/huashu-design/blob/0830494ecb1c117e25b313a8114fe55a6bf2b125/README.md
witr：https://github.com/pranshuparmar/witr/tree/dc4fa1da82d3e266fcbd928641b4f30b3077c64f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演示时切换采用摘要、源码证据和使用边界三个页签。组件与导出脚本来源：https://github.com/alchaincyf/huashu-design/blob/0830494ecb1c117e25b313a8114fe55a6bf2b125/assets/ios_frame.jsx
https://github.com/alchaincyf/huashu-design/blob/0830494ecb1c117e25b313a8114fe55a6bf2b125/assets/deck_stage.js
https://github.com/alchaincyf/huashu-design/blob/0830494ecb1c117e25b313a8114fe55a6bf2b125/scripts/html2pptx.js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演示时输入一份判断，保存后刷新，下载 Markdown。这里只验证浏览器端本地记录，不代表服务器存储、多用户同步或者权限功能。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本页提出试用范围和验收问题，不宣称产品已经部署。展示的视觉与文件成果可以继续交付，但业务产品仍需要相应工程实现。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900" y="885825"/>
            <a:ext cx="9909810" cy="1226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60"/>
              </a:lnSpc>
              <a:buNone/>
            </a:pPr>
            <a:r>
              <a:rPr lang="en-US" sz="6900" b="1" dirty="0">
                <a:solidFill>
                  <a:srgbClr val="E9F5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研选</a:t>
            </a:r>
            <a:endParaRPr lang="en-US" sz="6900" dirty="0"/>
          </a:p>
        </p:txBody>
      </p:sp>
      <p:sp>
        <p:nvSpPr>
          <p:cNvPr id="3" name="Text 1"/>
          <p:cNvSpPr/>
          <p:nvPr/>
        </p:nvSpPr>
        <p:spPr>
          <a:xfrm>
            <a:off x="762000" y="2247900"/>
            <a:ext cx="10687050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3300" dirty="0">
                <a:solidFill>
                  <a:srgbClr val="E9F5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开源项目研究与选型工作台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81050" y="3114675"/>
            <a:ext cx="1049274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1875" dirty="0">
                <a:solidFill>
                  <a:srgbClr val="B8D0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一份概念方案 · 用真实项目检验研究流程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781050" y="5238750"/>
            <a:ext cx="680085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3EE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RESEARCH DESK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81050" y="5581650"/>
            <a:ext cx="6800850" cy="253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95"/>
              </a:lnSpc>
              <a:buNone/>
            </a:pPr>
            <a:r>
              <a:rPr lang="en-US" sz="1425" dirty="0">
                <a:solidFill>
                  <a:srgbClr val="C3D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方案评审 / 2026.09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695325" y="6429375"/>
            <a:ext cx="1097851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B8CB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研选 / 概念方案 01 / 06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609600"/>
            <a:ext cx="10978515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3300" b="1" dirty="0">
                <a:solidFill>
                  <a:srgbClr val="182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研究过程中，最容易丢失的是采用理由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95325" y="1381125"/>
            <a:ext cx="1088136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1875" dirty="0">
                <a:solidFill>
                  <a:srgbClr val="6170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场景假设：研究者收集了多个仓库，希望判断下一步先试哪一个。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695325" y="2133600"/>
            <a:ext cx="10801350" cy="9525"/>
          </a:xfrm>
          <a:prstGeom prst="rect">
            <a:avLst/>
          </a:prstGeom>
          <a:solidFill>
            <a:srgbClr val="CBD5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5325" y="2514600"/>
            <a:ext cx="291465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82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资料散落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95325" y="3143250"/>
            <a:ext cx="3303270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dirty="0">
                <a:solidFill>
                  <a:srgbClr val="182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看过 README，</a:t>
            </a:r>
            <a:endParaRPr lang="en-US" sz="1950" dirty="0"/>
          </a:p>
          <a:p>
            <a:pPr algn="l" indent="0" marL="0">
              <a:lnSpc>
                <a:spcPts val="2730"/>
              </a:lnSpc>
              <a:buNone/>
            </a:pPr>
            <a:r>
              <a:rPr lang="en-US" sz="1950" dirty="0">
                <a:solidFill>
                  <a:srgbClr val="182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却没有留下版本与来源。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4591050" y="2514600"/>
            <a:ext cx="3011805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82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边界混淆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91050" y="3143250"/>
            <a:ext cx="3206115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dirty="0">
                <a:solidFill>
                  <a:srgbClr val="182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样例看起来可用，</a:t>
            </a:r>
            <a:endParaRPr lang="en-US" sz="1950" dirty="0"/>
          </a:p>
          <a:p>
            <a:pPr algn="l" indent="0" marL="0">
              <a:lnSpc>
                <a:spcPts val="2730"/>
              </a:lnSpc>
              <a:buNone/>
            </a:pPr>
            <a:r>
              <a:rPr lang="en-US" sz="1950" dirty="0">
                <a:solidFill>
                  <a:srgbClr val="182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实际任务还缺哪些环节？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8496300" y="2514600"/>
            <a:ext cx="291465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82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结论缺位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496300" y="3143250"/>
            <a:ext cx="2914650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dirty="0">
                <a:solidFill>
                  <a:srgbClr val="182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收藏了项目，</a:t>
            </a:r>
            <a:endParaRPr lang="en-US" sz="1950" dirty="0"/>
          </a:p>
          <a:p>
            <a:pPr algn="l" indent="0" marL="0">
              <a:lnSpc>
                <a:spcPts val="2730"/>
              </a:lnSpc>
              <a:buNone/>
            </a:pPr>
            <a:r>
              <a:rPr lang="en-US" sz="1950" dirty="0">
                <a:solidFill>
                  <a:srgbClr val="182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没有具体试用任务。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95325" y="5124450"/>
            <a:ext cx="1078420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>
                <a:solidFill>
                  <a:srgbClr val="2858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工作台的设计目标：让每份结论都能找到证据和下一步。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695325" y="6429375"/>
            <a:ext cx="1097851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19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研选 / 概念方案 02 / 06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590550"/>
            <a:ext cx="1068705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182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项目库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95325" y="1962150"/>
            <a:ext cx="3691890" cy="453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b="1" dirty="0">
                <a:solidFill>
                  <a:srgbClr val="182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先按用途找项目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695325" y="2647950"/>
            <a:ext cx="3400425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025" dirty="0">
                <a:solidFill>
                  <a:srgbClr val="182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搜索“设计”，</a:t>
            </a:r>
            <a:endParaRPr lang="en-US" sz="2025" dirty="0"/>
          </a:p>
          <a:p>
            <a:pPr algn="l" indent="0" marL="0">
              <a:lnSpc>
                <a:spcPts val="2835"/>
              </a:lnSpc>
              <a:buNone/>
            </a:pPr>
            <a:r>
              <a:rPr lang="en-US" sz="2025" dirty="0">
                <a:solidFill>
                  <a:srgbClr val="182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定位视觉交付工具。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695325" y="3819525"/>
            <a:ext cx="3594735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1875" dirty="0">
                <a:solidFill>
                  <a:srgbClr val="6170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Huashu Design 与 witr</a:t>
            </a:r>
            <a:endParaRPr lang="en-US" sz="1875" dirty="0"/>
          </a:p>
          <a:p>
            <a:pPr algn="l" indent="0" marL="0">
              <a:lnSpc>
                <a:spcPts val="2625"/>
              </a:lnSpc>
              <a:buNone/>
            </a:pPr>
            <a:r>
              <a:rPr lang="en-US" sz="1875" dirty="0">
                <a:solidFill>
                  <a:srgbClr val="6170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解决不同问题，</a:t>
            </a:r>
            <a:endParaRPr lang="en-US" sz="1875" dirty="0"/>
          </a:p>
          <a:p>
            <a:pPr algn="l" indent="0" marL="0">
              <a:lnSpc>
                <a:spcPts val="2625"/>
              </a:lnSpc>
              <a:buNone/>
            </a:pPr>
            <a:r>
              <a:rPr lang="en-US" sz="1875" dirty="0">
                <a:solidFill>
                  <a:srgbClr val="6170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不做跨用途的总分排名。</a:t>
            </a:r>
            <a:endParaRPr lang="en-US" sz="1875" dirty="0"/>
          </a:p>
        </p:txBody>
      </p:sp>
      <p:pic>
        <p:nvPicPr>
          <p:cNvPr id="6" name="Image 0" descr="F:\codex_project\0930_codex_project\projects\002-huashu-design\web\cases\research-desk\assets\prototype-libr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9625" y="1714500"/>
            <a:ext cx="6981825" cy="43624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5325" y="6429375"/>
            <a:ext cx="1097851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19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研选 / 概念方案 03 / 06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590550"/>
            <a:ext cx="1068705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182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证据页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95325" y="1952625"/>
            <a:ext cx="3691890" cy="453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b="1" dirty="0">
                <a:solidFill>
                  <a:srgbClr val="182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把能力与边界一起看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695325" y="2638425"/>
            <a:ext cx="3400425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025" dirty="0">
                <a:solidFill>
                  <a:srgbClr val="182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每项关键判断</a:t>
            </a:r>
            <a:endParaRPr lang="en-US" sz="2025" dirty="0"/>
          </a:p>
          <a:p>
            <a:pPr algn="l" indent="0" marL="0">
              <a:lnSpc>
                <a:spcPts val="2835"/>
              </a:lnSpc>
              <a:buNone/>
            </a:pPr>
            <a:r>
              <a:rPr lang="en-US" sz="2025" dirty="0">
                <a:solidFill>
                  <a:srgbClr val="182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都有固定版本的来源。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695325" y="3886200"/>
            <a:ext cx="3594735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dirty="0">
                <a:solidFill>
                  <a:srgbClr val="6170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原型、导出与云服务</a:t>
            </a:r>
            <a:endParaRPr lang="en-US" sz="1950" dirty="0"/>
          </a:p>
          <a:p>
            <a:pPr algn="l" indent="0" marL="0">
              <a:lnSpc>
                <a:spcPts val="2730"/>
              </a:lnSpc>
              <a:buNone/>
            </a:pPr>
            <a:r>
              <a:rPr lang="en-US" sz="1950" dirty="0">
                <a:solidFill>
                  <a:srgbClr val="6170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分别记录验证状态。</a:t>
            </a:r>
            <a:endParaRPr lang="en-US" sz="1950" dirty="0"/>
          </a:p>
        </p:txBody>
      </p:sp>
      <p:pic>
        <p:nvPicPr>
          <p:cNvPr id="6" name="Image 0" descr="F:\codex_project\0930_codex_project\projects\002-huashu-design\web\cases\research-desk\assets\prototype-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9625" y="1714500"/>
            <a:ext cx="6981825" cy="43624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5325" y="6429375"/>
            <a:ext cx="1097851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19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研选 / 概念方案 04 / 06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590550"/>
            <a:ext cx="1068705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182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采用判断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95325" y="1952625"/>
            <a:ext cx="3691890" cy="453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b="1" dirty="0">
                <a:solidFill>
                  <a:srgbClr val="182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研究结束后，留下行动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695325" y="2647950"/>
            <a:ext cx="3400425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025" dirty="0">
                <a:solidFill>
                  <a:srgbClr val="182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写下一个试用任务，</a:t>
            </a:r>
            <a:endParaRPr lang="en-US" sz="2025" dirty="0"/>
          </a:p>
          <a:p>
            <a:pPr algn="l" indent="0" marL="0">
              <a:lnSpc>
                <a:spcPts val="2835"/>
              </a:lnSpc>
              <a:buNone/>
            </a:pPr>
            <a:r>
              <a:rPr lang="en-US" sz="2025" dirty="0">
                <a:solidFill>
                  <a:srgbClr val="182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说明为什么值得继续。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695325" y="3886200"/>
            <a:ext cx="3594735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dirty="0">
                <a:solidFill>
                  <a:srgbClr val="6170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本地保存便于回看，</a:t>
            </a:r>
            <a:endParaRPr lang="en-US" sz="1950" dirty="0"/>
          </a:p>
          <a:p>
            <a:pPr algn="l" indent="0" marL="0">
              <a:lnSpc>
                <a:spcPts val="2730"/>
              </a:lnSpc>
              <a:buNone/>
            </a:pPr>
            <a:r>
              <a:rPr lang="en-US" sz="1950" dirty="0">
                <a:solidFill>
                  <a:srgbClr val="6170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Markdown 便于归档。</a:t>
            </a:r>
            <a:endParaRPr lang="en-US" sz="1950" dirty="0"/>
          </a:p>
        </p:txBody>
      </p:sp>
      <p:pic>
        <p:nvPicPr>
          <p:cNvPr id="6" name="Image 0" descr="F:\codex_project\0930_codex_project\projects\002-huashu-design\web\cases\research-desk\assets\prototype-deci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9625" y="1714500"/>
            <a:ext cx="6981825" cy="43624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5325" y="6429375"/>
            <a:ext cx="1097851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19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研选 / 概念方案 05 / 06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E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609600"/>
            <a:ext cx="1068705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182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首轮试用范围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95325" y="1438275"/>
            <a:ext cx="10881360" cy="41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55"/>
              </a:lnSpc>
              <a:buNone/>
            </a:pPr>
            <a:r>
              <a:rPr lang="en-US" sz="2325" dirty="0">
                <a:solidFill>
                  <a:srgbClr val="3D5B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先完成一个真实项目的研究闭环</a:t>
            </a:r>
            <a:endParaRPr lang="en-US" sz="2325" dirty="0"/>
          </a:p>
        </p:txBody>
      </p:sp>
      <p:sp>
        <p:nvSpPr>
          <p:cNvPr id="4" name="Text 2"/>
          <p:cNvSpPr/>
          <p:nvPr/>
        </p:nvSpPr>
        <p:spPr>
          <a:xfrm>
            <a:off x="695325" y="2162175"/>
            <a:ext cx="10801350" cy="9525"/>
          </a:xfrm>
          <a:prstGeom prst="rect">
            <a:avLst/>
          </a:prstGeom>
          <a:solidFill>
            <a:srgbClr val="CBD5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5325" y="2524125"/>
            <a:ext cx="4857750" cy="41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55"/>
              </a:lnSpc>
              <a:buNone/>
            </a:pPr>
            <a:r>
              <a:rPr lang="en-US" sz="2325" b="1" dirty="0">
                <a:solidFill>
                  <a:srgbClr val="182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本轮可体验</a:t>
            </a:r>
            <a:endParaRPr lang="en-US" sz="2325" dirty="0"/>
          </a:p>
        </p:txBody>
      </p:sp>
      <p:sp>
        <p:nvSpPr>
          <p:cNvPr id="6" name="Text 4"/>
          <p:cNvSpPr/>
          <p:nvPr/>
        </p:nvSpPr>
        <p:spPr>
          <a:xfrm>
            <a:off x="695325" y="3181350"/>
            <a:ext cx="4954905" cy="111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182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项目筛选与详情查看</a:t>
            </a:r>
            <a:endParaRPr lang="en-US" sz="2100" dirty="0"/>
          </a:p>
          <a:p>
            <a:pPr algn="l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182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固定版本的证据链接</a:t>
            </a:r>
            <a:endParaRPr lang="en-US" sz="2100" dirty="0"/>
          </a:p>
          <a:p>
            <a:pPr algn="l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182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收藏、本地判断与下载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734175" y="2524125"/>
            <a:ext cx="4857750" cy="41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55"/>
              </a:lnSpc>
              <a:buNone/>
            </a:pPr>
            <a:r>
              <a:rPr lang="en-US" sz="2325" b="1" dirty="0">
                <a:solidFill>
                  <a:srgbClr val="182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产品化阶段再建设</a:t>
            </a:r>
            <a:endParaRPr lang="en-US" sz="2325" dirty="0"/>
          </a:p>
        </p:txBody>
      </p:sp>
      <p:sp>
        <p:nvSpPr>
          <p:cNvPr id="8" name="Text 6"/>
          <p:cNvSpPr/>
          <p:nvPr/>
        </p:nvSpPr>
        <p:spPr>
          <a:xfrm>
            <a:off x="6734175" y="3181350"/>
            <a:ext cx="4857750" cy="111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182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用户账户与访问权限</a:t>
            </a:r>
            <a:endParaRPr lang="en-US" sz="2100" dirty="0"/>
          </a:p>
          <a:p>
            <a:pPr algn="l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182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数据库、协作与同步</a:t>
            </a:r>
            <a:endParaRPr lang="en-US" sz="2100" dirty="0"/>
          </a:p>
          <a:p>
            <a:pPr algn="l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182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自动更新与部署维护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95325" y="5362575"/>
            <a:ext cx="10881360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dirty="0">
                <a:solidFill>
                  <a:srgbClr val="3D5B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试用判断：内容是否清楚？结论是否可追溯？下一步是否具体？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95325" y="6429375"/>
            <a:ext cx="1097851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19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研选 / 概念方案 06 / 06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2026-09-29T16:04:18Z</dcterms:created>
  <dcterms:modified xsi:type="dcterms:W3CDTF">2026-09-29T16:04:18Z</dcterms:modified>
</cp:coreProperties>
</file>